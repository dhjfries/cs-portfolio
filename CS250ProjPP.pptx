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BA6CC-6A5A-36F9-240F-33BDA512E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B9D7D-2379-C1ED-E43E-C9E8BDB70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6BA84-B5C0-BBBE-1958-3F21F28E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7014B-3C86-62A7-EC53-4842D3BD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84816-0488-C09A-26C0-20CF9E36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48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7853-408A-5DCB-C4CA-F71FA827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24D2B-D7B5-87CE-861A-97429BE7B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7C0B0-6831-30F5-B371-7DEF8046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25130-F3ED-AB0D-6E62-420E8041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953DC-992C-FF97-9F09-96218C2C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49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D6E8-76A2-7DEA-C333-8EED8839D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D7DC1-424B-8C33-7C75-CA7F14C27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4AFC4-32A7-EC48-AFE1-865B7575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4B228-B405-41A2-DA37-EDAC140D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5EF33-7ADC-5A70-9640-CB804C8C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60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05FA-921C-82BF-9EED-E847A4050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A9E5E-DBFF-CFFC-91A3-E8DB677F5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F65F0-0AC5-7D78-686B-A3CFEE98B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46084-1DC3-1B49-7DCB-5D6D14FB7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70826-AD97-ACD9-FF13-57153599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AF9A-0042-A789-D856-F9375436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96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6376-DD2E-342D-8EBE-2333C15D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8D631-D057-EF61-0547-7B7C53F05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0B40E-C612-DF0A-4A68-D49B9474A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68C9E-D909-FF0C-48FF-9EE07798C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1403B8-483E-E3A9-DC2D-8CBD6BA5F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2DDD7-21F0-7600-98ED-DC0455404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BDFC9-9753-6FCD-2B26-160B6293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7394E4-ED08-5F88-ED8A-E6F124B9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74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AB344-59A3-D373-AD81-A8AF3493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F4755-A8F9-58E5-92B5-64D9B817F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FC479-0F1D-9B70-FBC6-87EE716A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8E20B-F89B-C2B6-830F-77AB424E2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8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A3EEFD-2823-0CAD-FA54-178FCEBB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21F76-A402-8C36-5CD3-D7D0EAB00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FDDAE-AC38-822D-7726-6FAAD922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88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4D51-5B0E-6BE6-D2AB-9D9438C5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D3953-CCE4-0ACA-7D5E-AD10F094B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697E0-767A-1A4D-89F3-A39324093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1D292-7A5B-5B30-2650-617DF143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9D1FE-F5A7-CF0F-43B5-29B3B360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F5BC9-0B5E-BC21-6674-733C5A4B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43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DB77-FFFE-9BE5-4847-C2DB28FA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CC8A53-DC9A-BC82-EAC6-01A17ECEA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1E9D6-958D-6B6D-58EC-F2B211D3C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EE9BD-CEFE-AE71-D378-12DB8CE2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E51DC-7071-8221-E3C0-DEC74768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19FC3-EF37-4273-48C3-DA82A68C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05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DAA6-60D9-3977-03B8-4450377E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9A9064-5882-2516-B58C-16C9D6A86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2D293-B5AD-E366-AE9B-5E3F422B5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E6CBB-B486-2711-2DC8-900741CE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24140-5600-301E-E388-376929F3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5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A1F5D-8EFB-B57F-2839-4A3D133B56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B16BA-29F6-0A8B-12CE-41CD905FB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C6742-8C5D-719F-9D8A-C4C6A82CC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697B0-7B7D-7CC9-7F13-E8339AD2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38B39-83E8-536E-C6D3-44E6C509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8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ADC9BA-CEC8-B75C-9D95-262B056F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7DE36-E818-E586-BA24-7F2DF9A03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AA2B3-FC41-A79C-8D01-86319975D0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C74A9-A088-4E26-8FA9-D8BFE2F627B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365A2-A641-4091-DBE8-6F90C90CD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D7A5F-B64D-EAB8-F633-C10D57B9B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A5ECE-2C7C-4DC4-AE20-83BC8C8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2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eofagile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https://doi.org/10.9734/ajrcos/2024/v17i5385" TargetMode="External"/><Relationship Id="rId5" Type="http://schemas.openxmlformats.org/officeDocument/2006/relationships/hyperlink" Target="https://www.standishgroup.com/sample_research_files/CHAOSReport2020.pdf" TargetMode="External"/><Relationship Id="rId4" Type="http://schemas.openxmlformats.org/officeDocument/2006/relationships/hyperlink" Target="https://scrumguides.org/scrum-guid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DDEADA-2C0B-76D1-7A12-C6CA2CDE2D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Leadership Briefing on Software Development Methodologies, Core Framework Roles, and Strategic Implementation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206696-FDD4-3A72-C07A-F5470F1E1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Agile vs Waterfall SDLC</a:t>
            </a:r>
          </a:p>
        </p:txBody>
      </p:sp>
    </p:spTree>
    <p:extLst>
      <p:ext uri="{BB962C8B-B14F-4D97-AF65-F5344CB8AC3E}">
        <p14:creationId xmlns:p14="http://schemas.microsoft.com/office/powerpoint/2010/main" val="3839885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999F-F33B-4D02-1355-17F187BB3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0" y="2103437"/>
            <a:ext cx="6781800" cy="1325563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Executive Briefing Overview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78BBE-6225-7C16-0498-2EAE148A6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Evaluating modern software delivery frameworks to optimize product velocity, mitigate architectural risks, and drive continuous value alignment.</a:t>
            </a:r>
          </a:p>
        </p:txBody>
      </p:sp>
    </p:spTree>
    <p:extLst>
      <p:ext uri="{BB962C8B-B14F-4D97-AF65-F5344CB8AC3E}">
        <p14:creationId xmlns:p14="http://schemas.microsoft.com/office/powerpoint/2010/main" val="75922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FF40-5829-F655-F7B7-A4C6469C6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25"/>
            <a:ext cx="10515600" cy="98107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Core Scrum-Agile Team Role</a:t>
            </a:r>
            <a:endParaRPr lang="en-US" sz="4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27D305-668A-A001-0ECB-11BECC662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9050"/>
            <a:ext cx="2540000" cy="3416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indent="0" algn="ctr">
              <a:buNone/>
            </a:pPr>
            <a:r>
              <a:rPr lang="en-US" dirty="0"/>
              <a:t>Product Owner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Owns the product vision, maintains and prioritizes the backlog, represents business stakeholders, and guarantees maximum value delivery.</a:t>
            </a:r>
            <a:br>
              <a:rPr lang="en-US" dirty="0"/>
            </a:b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EEFBB8-DDC9-F93F-D2F1-2C382309F75A}"/>
              </a:ext>
            </a:extLst>
          </p:cNvPr>
          <p:cNvSpPr/>
          <p:nvPr/>
        </p:nvSpPr>
        <p:spPr>
          <a:xfrm>
            <a:off x="4206875" y="2559050"/>
            <a:ext cx="2692400" cy="3416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Scrum Master</a:t>
            </a:r>
          </a:p>
          <a:p>
            <a:endParaRPr lang="en-US" sz="1600" dirty="0"/>
          </a:p>
          <a:p>
            <a:r>
              <a:rPr lang="en-US" sz="1600" dirty="0"/>
              <a:t>                                                   Facilitates team ceremonies, eliminates operational blockers, enforces Agile principles, and coaches cross-functional team execution.</a:t>
            </a:r>
            <a:endParaRPr lang="en-US" sz="16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FCACB3-A0C7-DEDF-B32F-A4F34B5346FB}"/>
              </a:ext>
            </a:extLst>
          </p:cNvPr>
          <p:cNvSpPr/>
          <p:nvPr/>
        </p:nvSpPr>
        <p:spPr>
          <a:xfrm>
            <a:off x="7727950" y="2559050"/>
            <a:ext cx="2692400" cy="3416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Development Team</a:t>
            </a:r>
          </a:p>
          <a:p>
            <a:endParaRPr lang="en-US" sz="1600" dirty="0"/>
          </a:p>
          <a:p>
            <a:r>
              <a:rPr lang="en-US" sz="1600" dirty="0"/>
              <a:t>Self-organizing, cross-functional engineering team responsible for delivering fully tested, high-quality working increments each sprint.</a:t>
            </a:r>
            <a:endParaRPr lang="en-US" sz="1600" b="0" dirty="0">
              <a:effectLst/>
            </a:endParaRPr>
          </a:p>
          <a:p>
            <a:br>
              <a:rPr lang="en-US" sz="1600" dirty="0"/>
            </a:b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370CE-6EB8-F323-D409-5F5A99CD506D}"/>
              </a:ext>
            </a:extLst>
          </p:cNvPr>
          <p:cNvSpPr txBox="1"/>
          <p:nvPr/>
        </p:nvSpPr>
        <p:spPr>
          <a:xfrm>
            <a:off x="838200" y="1503660"/>
            <a:ext cx="9582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Owner (value maximization), Scrum Master (process facilitation), and Developers (execution). These roles are defined by clear accountabilities to ensure transparency and inspection (Schwaber &amp; Sutherland, 2020).</a:t>
            </a:r>
          </a:p>
        </p:txBody>
      </p:sp>
    </p:spTree>
    <p:extLst>
      <p:ext uri="{BB962C8B-B14F-4D97-AF65-F5344CB8AC3E}">
        <p14:creationId xmlns:p14="http://schemas.microsoft.com/office/powerpoint/2010/main" val="1533911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999E8-F6F9-87D2-14E3-0F03093BC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5225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Agile SDLC Sprint Lifecycle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EF1C8D-7DA9-07B0-9E1B-AD747AAFD30E}"/>
              </a:ext>
            </a:extLst>
          </p:cNvPr>
          <p:cNvCxnSpPr>
            <a:cxnSpLocks/>
          </p:cNvCxnSpPr>
          <p:nvPr/>
        </p:nvCxnSpPr>
        <p:spPr>
          <a:xfrm>
            <a:off x="2089150" y="3816350"/>
            <a:ext cx="7842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D711DC3-2BDA-EA93-25E9-306BC0AC21E2}"/>
              </a:ext>
            </a:extLst>
          </p:cNvPr>
          <p:cNvSpPr/>
          <p:nvPr/>
        </p:nvSpPr>
        <p:spPr>
          <a:xfrm>
            <a:off x="3206750" y="3749675"/>
            <a:ext cx="266700" cy="133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7ADFB4-6DA2-EE90-3E0D-4C4DCFD09646}"/>
              </a:ext>
            </a:extLst>
          </p:cNvPr>
          <p:cNvSpPr/>
          <p:nvPr/>
        </p:nvSpPr>
        <p:spPr>
          <a:xfrm>
            <a:off x="4679950" y="3749675"/>
            <a:ext cx="266700" cy="133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37280C-B54A-DEE8-52C7-D4C2A793040C}"/>
              </a:ext>
            </a:extLst>
          </p:cNvPr>
          <p:cNvSpPr/>
          <p:nvPr/>
        </p:nvSpPr>
        <p:spPr>
          <a:xfrm>
            <a:off x="6527800" y="3749675"/>
            <a:ext cx="266700" cy="133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1445F5-13FB-6E1F-6F93-F6D294E0FAC6}"/>
              </a:ext>
            </a:extLst>
          </p:cNvPr>
          <p:cNvSpPr/>
          <p:nvPr/>
        </p:nvSpPr>
        <p:spPr>
          <a:xfrm>
            <a:off x="8375650" y="3749675"/>
            <a:ext cx="266700" cy="133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AE2ABF-860D-90F2-15C7-8F00866E4B3D}"/>
              </a:ext>
            </a:extLst>
          </p:cNvPr>
          <p:cNvSpPr txBox="1"/>
          <p:nvPr/>
        </p:nvSpPr>
        <p:spPr>
          <a:xfrm>
            <a:off x="2574925" y="2318722"/>
            <a:ext cx="17970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Backlog &amp; Planning</a:t>
            </a:r>
          </a:p>
          <a:p>
            <a:r>
              <a:rPr lang="en-US" sz="1100" dirty="0"/>
              <a:t>Select priority user stories, establish acceptance criteria, and commit to sprint goals.</a:t>
            </a:r>
            <a:endParaRPr lang="en-US" sz="11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3BA-F201-8E1A-CB91-617C422EA69D}"/>
              </a:ext>
            </a:extLst>
          </p:cNvPr>
          <p:cNvSpPr txBox="1"/>
          <p:nvPr/>
        </p:nvSpPr>
        <p:spPr>
          <a:xfrm>
            <a:off x="4048125" y="4072592"/>
            <a:ext cx="17970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Sprint Execution</a:t>
            </a:r>
          </a:p>
          <a:p>
            <a:r>
              <a:rPr lang="en-US" sz="1100" dirty="0"/>
              <a:t>Iterative design </a:t>
            </a:r>
            <a:endParaRPr lang="en-US" sz="1100" b="0" dirty="0">
              <a:effectLst/>
            </a:endParaRPr>
          </a:p>
          <a:p>
            <a:r>
              <a:rPr lang="en-US" sz="1100" dirty="0"/>
              <a:t>and coding backed by daily standups for active progress synchronization</a:t>
            </a:r>
            <a:br>
              <a:rPr lang="en-US" dirty="0"/>
            </a:b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C31379-0E79-6CA2-5A8E-AA285AD6F49C}"/>
              </a:ext>
            </a:extLst>
          </p:cNvPr>
          <p:cNvSpPr txBox="1"/>
          <p:nvPr/>
        </p:nvSpPr>
        <p:spPr>
          <a:xfrm>
            <a:off x="5762625" y="2349500"/>
            <a:ext cx="179705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Testing &amp; Review</a:t>
            </a:r>
          </a:p>
          <a:p>
            <a:r>
              <a:rPr lang="en-US" sz="1100" dirty="0"/>
              <a:t>Continuous QA followed by live stakeholder demonstration for real-time validation.</a:t>
            </a:r>
            <a:endParaRPr lang="en-US" sz="11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F0ADFB-D81E-4F64-F3DC-C5F0DBE151FB}"/>
              </a:ext>
            </a:extLst>
          </p:cNvPr>
          <p:cNvSpPr txBox="1"/>
          <p:nvPr/>
        </p:nvSpPr>
        <p:spPr>
          <a:xfrm>
            <a:off x="7743825" y="4054117"/>
            <a:ext cx="179705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Retrospective &amp; Release</a:t>
            </a:r>
          </a:p>
          <a:p>
            <a:r>
              <a:rPr lang="en-US" sz="1100" dirty="0"/>
              <a:t>Evaluate team performance, adjust workflow processes, and deploy working software.</a:t>
            </a:r>
            <a:endParaRPr lang="en-US" sz="11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4BA13-2A26-2B2C-20EF-A558E54A8DF5}"/>
              </a:ext>
            </a:extLst>
          </p:cNvPr>
          <p:cNvSpPr txBox="1"/>
          <p:nvPr/>
        </p:nvSpPr>
        <p:spPr>
          <a:xfrm>
            <a:off x="838200" y="5669894"/>
            <a:ext cx="10204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Agile shifts focus toward iterative design, continuous QA, and rapid release loops over comprehensive documentation, with 71% of organizations actively integrating Agile into their SDLC (Digital.ai, 2024; Schwaber &amp; Sutherland, 2020).</a:t>
            </a:r>
          </a:p>
        </p:txBody>
      </p:sp>
    </p:spTree>
    <p:extLst>
      <p:ext uri="{BB962C8B-B14F-4D97-AF65-F5344CB8AC3E}">
        <p14:creationId xmlns:p14="http://schemas.microsoft.com/office/powerpoint/2010/main" val="4029128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4CD7A-3EB7-B81D-B401-B3B23FED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Development Paradigm Contrast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8D337-6F1E-8A6F-3468-3473573F3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Linear vs. Iterative Philosophy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Waterfall:</a:t>
            </a:r>
            <a:r>
              <a:rPr lang="en-US" dirty="0"/>
              <a:t> Follows a sequential flow (Requirements → Design → Code → Test → Deploy). Scope is frozen early, making downstream changes costly.</a:t>
            </a:r>
            <a:endParaRPr lang="en-US" b="1" dirty="0"/>
          </a:p>
          <a:p>
            <a:r>
              <a:rPr lang="en-US" b="1" dirty="0"/>
              <a:t>Agile:</a:t>
            </a:r>
            <a:r>
              <a:rPr lang="en-US" dirty="0"/>
              <a:t> Operates in short, iterative loops (1-4 week sprints). Rapid releases allow continuous scope refinement based on real market usage.</a:t>
            </a:r>
          </a:p>
        </p:txBody>
      </p:sp>
    </p:spTree>
    <p:extLst>
      <p:ext uri="{BB962C8B-B14F-4D97-AF65-F5344CB8AC3E}">
        <p14:creationId xmlns:p14="http://schemas.microsoft.com/office/powerpoint/2010/main" val="254020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3F63F-806D-475C-444A-2DDB4828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365125"/>
            <a:ext cx="11061700" cy="23844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Resolving Blockers: Waterfall vs Agile</a:t>
            </a:r>
            <a:br>
              <a:rPr lang="en-US" b="0" dirty="0">
                <a:effectLst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020B31-E4EA-D5BB-4794-E8E4754ACB24}"/>
              </a:ext>
            </a:extLst>
          </p:cNvPr>
          <p:cNvSpPr/>
          <p:nvPr/>
        </p:nvSpPr>
        <p:spPr>
          <a:xfrm>
            <a:off x="1028700" y="2374900"/>
            <a:ext cx="4572000" cy="2622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Waterfall Blocker Response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Rigid Escalation:</a:t>
            </a:r>
            <a:r>
              <a:rPr lang="en-US" sz="1400" dirty="0"/>
              <a:t> Unforeseen technical defects during late-stage testing require formal Change Control Board approval, causing milestone delays and major budget re-estimations.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E15352-06F4-1ADA-5B04-C6FFC76577AD}"/>
              </a:ext>
            </a:extLst>
          </p:cNvPr>
          <p:cNvSpPr/>
          <p:nvPr/>
        </p:nvSpPr>
        <p:spPr>
          <a:xfrm>
            <a:off x="6254750" y="2419350"/>
            <a:ext cx="4572000" cy="2622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Agile Blocker Response</a:t>
            </a:r>
          </a:p>
          <a:p>
            <a:pPr algn="ctr"/>
            <a:endParaRPr lang="en-US" sz="2800" dirty="0"/>
          </a:p>
          <a:p>
            <a:pPr algn="ctr"/>
            <a:r>
              <a:rPr lang="en-US" sz="1400" b="1" dirty="0"/>
              <a:t>Adaptive Resolution:</a:t>
            </a:r>
            <a:r>
              <a:rPr lang="en-US" sz="1400" dirty="0"/>
              <a:t> Daily Standups surface blockers immediately. The Scrum Master assists in resolution while the Product Owner reprioritizes the backlog dynamically.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7EBC99-02A9-3E7B-01F1-A38C1AC5EFC4}"/>
              </a:ext>
            </a:extLst>
          </p:cNvPr>
          <p:cNvSpPr txBox="1"/>
          <p:nvPr/>
        </p:nvSpPr>
        <p:spPr>
          <a:xfrm>
            <a:off x="1028700" y="5441950"/>
            <a:ext cx="9848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Traditional Waterfall relies on a sequential, phase-gated flow where scope is frozen early; empirical studies show plan-driven models suffer higher failure rates in dynamic environments compared to flexible Agile frameworks (Tetteh, 2024; Zare &amp; Far, 2024).</a:t>
            </a:r>
          </a:p>
        </p:txBody>
      </p:sp>
    </p:spTree>
    <p:extLst>
      <p:ext uri="{BB962C8B-B14F-4D97-AF65-F5344CB8AC3E}">
        <p14:creationId xmlns:p14="http://schemas.microsoft.com/office/powerpoint/2010/main" val="245423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8667-9192-DF82-035C-CD36C569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dirty="0">
                <a:effectLst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</a:rPr>
              <a:t>Decision Factors for Leadership</a:t>
            </a: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Content Placeholder 3" descr="image.png">
            <a:extLst>
              <a:ext uri="{FF2B5EF4-FFF2-40B4-BE49-F238E27FC236}">
                <a16:creationId xmlns:a16="http://schemas.microsoft.com/office/drawing/2014/main" id="{4A9F946A-612F-BDDD-8596-33A4BD96D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4800" y="1905000"/>
            <a:ext cx="5028982" cy="31393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72BD8-079E-3460-2E15-DDAD661B6DE5}"/>
              </a:ext>
            </a:extLst>
          </p:cNvPr>
          <p:cNvSpPr txBox="1"/>
          <p:nvPr/>
        </p:nvSpPr>
        <p:spPr>
          <a:xfrm>
            <a:off x="247868" y="1905000"/>
            <a:ext cx="62608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Scope Stability:</a:t>
            </a:r>
            <a:r>
              <a:rPr lang="en-US" dirty="0"/>
              <a:t> Fixed regulatory mandates favor Waterfall; evolving product capabilities favor Agile.</a:t>
            </a:r>
          </a:p>
          <a:p>
            <a:endParaRPr lang="en-US" dirty="0"/>
          </a:p>
          <a:p>
            <a:r>
              <a:rPr lang="en-US" b="1" dirty="0"/>
              <a:t>Stakeholder Engagement:</a:t>
            </a:r>
            <a:r>
              <a:rPr lang="en-US" dirty="0"/>
              <a:t> Agile requires continuous client feedback; Waterfall relies on upfront signoffs</a:t>
            </a:r>
          </a:p>
          <a:p>
            <a:endParaRPr lang="en-US" dirty="0"/>
          </a:p>
          <a:p>
            <a:r>
              <a:rPr lang="en-US" b="1" dirty="0"/>
              <a:t>Risk Tolerance:</a:t>
            </a:r>
            <a:r>
              <a:rPr lang="en-US" dirty="0"/>
              <a:t> Agile reduces risk via frequent releases; Waterfall defers integration risk to late phases.</a:t>
            </a:r>
          </a:p>
          <a:p>
            <a:endParaRPr lang="en-US" dirty="0"/>
          </a:p>
          <a:p>
            <a:r>
              <a:rPr lang="en-US" b="1" dirty="0"/>
              <a:t>Time-to-Market:</a:t>
            </a:r>
            <a:r>
              <a:rPr lang="en-US" dirty="0"/>
              <a:t> Agile delivers functional value early; Waterfall delivers at project completion.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67876-A279-FBB3-974B-3368E2431E15}"/>
              </a:ext>
            </a:extLst>
          </p:cNvPr>
          <p:cNvSpPr txBox="1"/>
          <p:nvPr/>
        </p:nvSpPr>
        <p:spPr>
          <a:xfrm>
            <a:off x="565150" y="5657850"/>
            <a:ext cx="1104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Industry metrics indicate that adopting Agile practices accelerates time-to-market (52%), improves team alignment (57%), and significantly lowers project delivery risk (Digital.ai, 2022, 2024; Standish Group, 2020).</a:t>
            </a:r>
          </a:p>
        </p:txBody>
      </p:sp>
    </p:spTree>
    <p:extLst>
      <p:ext uri="{BB962C8B-B14F-4D97-AF65-F5344CB8AC3E}">
        <p14:creationId xmlns:p14="http://schemas.microsoft.com/office/powerpoint/2010/main" val="3980258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209F-4188-94AE-4EDF-DD140DD3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dirty="0">
                <a:effectLst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</a:rPr>
              <a:t>Methodology Comparative Matrix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778F4-AF90-6C91-4249-D7501C9877E3}"/>
              </a:ext>
            </a:extLst>
          </p:cNvPr>
          <p:cNvSpPr/>
          <p:nvPr/>
        </p:nvSpPr>
        <p:spPr>
          <a:xfrm>
            <a:off x="1104900" y="2717800"/>
            <a:ext cx="9518650" cy="2778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1A291-7B79-569F-8562-14EA29118DDD}"/>
              </a:ext>
            </a:extLst>
          </p:cNvPr>
          <p:cNvSpPr txBox="1"/>
          <p:nvPr/>
        </p:nvSpPr>
        <p:spPr>
          <a:xfrm>
            <a:off x="1285875" y="2950686"/>
            <a:ext cx="915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Dimension		Waterfall Model			Scrum-Agile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A3435B-9AC1-5004-A445-34957A5DAB7E}"/>
              </a:ext>
            </a:extLst>
          </p:cNvPr>
          <p:cNvSpPr txBox="1"/>
          <p:nvPr/>
        </p:nvSpPr>
        <p:spPr>
          <a:xfrm>
            <a:off x="1285875" y="3431143"/>
            <a:ext cx="915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Delivery Model		</a:t>
            </a:r>
            <a:r>
              <a:rPr lang="en-US" sz="1200" dirty="0">
                <a:solidFill>
                  <a:schemeClr val="bg1"/>
                </a:solidFill>
              </a:rPr>
              <a:t>Single major release at project conclusion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sz="900" dirty="0">
                <a:solidFill>
                  <a:schemeClr val="bg1"/>
                </a:solidFill>
              </a:rPr>
              <a:t>Continuous working increments every 2-4 weeks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A4878F-8183-8BB3-B972-27087A97672A}"/>
              </a:ext>
            </a:extLst>
          </p:cNvPr>
          <p:cNvSpPr txBox="1"/>
          <p:nvPr/>
        </p:nvSpPr>
        <p:spPr>
          <a:xfrm>
            <a:off x="1285875" y="3897868"/>
            <a:ext cx="915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Requirement Flexibility	</a:t>
            </a:r>
            <a:r>
              <a:rPr lang="en-US" sz="1200" dirty="0">
                <a:solidFill>
                  <a:schemeClr val="bg1"/>
                </a:solidFill>
              </a:rPr>
              <a:t>Inflexible once phase baseline is set		</a:t>
            </a:r>
            <a:r>
              <a:rPr lang="en-US" sz="1000" dirty="0">
                <a:solidFill>
                  <a:schemeClr val="bg1"/>
                </a:solidFill>
              </a:rPr>
              <a:t>High; backlog refined iteratively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64F4D-B648-0068-CF96-92CEEFC9B424}"/>
              </a:ext>
            </a:extLst>
          </p:cNvPr>
          <p:cNvSpPr txBox="1"/>
          <p:nvPr/>
        </p:nvSpPr>
        <p:spPr>
          <a:xfrm>
            <a:off x="1285875" y="4858782"/>
            <a:ext cx="920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Risk Profile	</a:t>
            </a:r>
            <a:r>
              <a:rPr lang="en-US" sz="1200" dirty="0">
                <a:solidFill>
                  <a:schemeClr val="bg1"/>
                </a:solidFill>
              </a:rPr>
              <a:t>High risk during late-stage integration		Low risk due to continuous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E9A280-4EE4-3613-328D-7C91A1AC4034}"/>
              </a:ext>
            </a:extLst>
          </p:cNvPr>
          <p:cNvSpPr txBox="1"/>
          <p:nvPr/>
        </p:nvSpPr>
        <p:spPr>
          <a:xfrm>
            <a:off x="1285875" y="4378325"/>
            <a:ext cx="900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Customer Involvement	</a:t>
            </a:r>
            <a:r>
              <a:rPr lang="en-US" sz="1200" dirty="0">
                <a:solidFill>
                  <a:schemeClr val="bg1"/>
                </a:solidFill>
              </a:rPr>
              <a:t>Upfront planning &amp; final user acceptance		</a:t>
            </a:r>
            <a:r>
              <a:rPr lang="en-US" sz="900" dirty="0">
                <a:solidFill>
                  <a:schemeClr val="bg1"/>
                </a:solidFill>
              </a:rPr>
              <a:t>Continuous participation in reviews &amp; demos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7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2C4A-BBED-63E2-08F0-98A7F22A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2257425"/>
            <a:ext cx="8007350" cy="1325563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Questions &amp; Strategic Alignment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2EEED1-F6B7-2E8D-C13A-2DC19652C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11271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Thank you for your time. Let's discuss adapting our SDLC framework for strategic success.</a:t>
            </a:r>
            <a:endParaRPr lang="en-US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55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969E-3C40-7F68-7B60-BF05AECA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Sources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FAE45-5263-5A0A-74E6-E8F338FB9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D7D98A3B-8524-E57B-BE1F-F17FED8E0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1690688"/>
            <a:ext cx="3452219" cy="2342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CCBBDA-D3DE-46F3-B3A7-DF131C3D80F7}"/>
              </a:ext>
            </a:extLst>
          </p:cNvPr>
          <p:cNvSpPr txBox="1"/>
          <p:nvPr/>
        </p:nvSpPr>
        <p:spPr>
          <a:xfrm>
            <a:off x="5568950" y="1625600"/>
            <a:ext cx="555625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Digital.ai. (2024). </a:t>
            </a:r>
            <a:r>
              <a:rPr lang="en-US" sz="1400" i="1" dirty="0"/>
              <a:t>17th annual State of Agile report</a:t>
            </a:r>
            <a:r>
              <a:rPr lang="en-US" sz="1400" dirty="0"/>
              <a:t>. </a:t>
            </a:r>
            <a:r>
              <a:rPr lang="en-US" sz="1400" dirty="0">
                <a:hlinkClick r:id="rId3"/>
              </a:rPr>
              <a:t>https://stateofagile.com/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Schwaber, K., &amp; Sutherland, J. (2020). </a:t>
            </a:r>
            <a:r>
              <a:rPr lang="en-US" sz="1400" i="1" dirty="0"/>
              <a:t>The Scrum guide: The definitive guide to Scrum: The rules of the game</a:t>
            </a:r>
            <a:r>
              <a:rPr lang="en-US" sz="1400" dirty="0"/>
              <a:t>. Scrum.org. </a:t>
            </a:r>
            <a:r>
              <a:rPr lang="en-US" sz="1400" dirty="0">
                <a:hlinkClick r:id="rId4"/>
              </a:rPr>
              <a:t>https://scrumguides.org/scrum-guide.html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Standish Group. (2020). </a:t>
            </a:r>
            <a:r>
              <a:rPr lang="en-US" sz="1400" i="1" dirty="0"/>
              <a:t>CHAOS 2020: Beyond infinity</a:t>
            </a:r>
            <a:r>
              <a:rPr lang="en-US" sz="1400" dirty="0"/>
              <a:t>. The Standish Group International, Inc. </a:t>
            </a:r>
            <a:r>
              <a:rPr lang="en-US" sz="1400" dirty="0">
                <a:hlinkClick r:id="rId5"/>
              </a:rPr>
              <a:t>https://www.standishgroup.com/sample_research_files/CHAOSReport2020.pdf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Tetteh, E. (2024). Empirical study of Agile software development methodologies: A comparative analysis. </a:t>
            </a:r>
            <a:r>
              <a:rPr lang="en-US" sz="1400" i="1" dirty="0"/>
              <a:t>Asian Journal of Research in Computer Science</a:t>
            </a:r>
            <a:r>
              <a:rPr lang="en-US" sz="1400" dirty="0"/>
              <a:t>, 17(5), 30–42. </a:t>
            </a:r>
            <a:r>
              <a:rPr lang="en-US" sz="1400" dirty="0">
                <a:hlinkClick r:id="rId6"/>
              </a:rPr>
              <a:t>https://doi.org/10.9734/ajrcos/2024/v17i5385</a:t>
            </a:r>
            <a:endParaRPr lang="en-US" sz="1400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E388E6-61A3-A8DF-CF86-004227C2117C}"/>
              </a:ext>
            </a:extLst>
          </p:cNvPr>
          <p:cNvSpPr txBox="1"/>
          <p:nvPr/>
        </p:nvSpPr>
        <p:spPr>
          <a:xfrm>
            <a:off x="349250" y="4168202"/>
            <a:ext cx="452755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75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</a:rPr>
              <a:t>https://www.kanbanchi.com/wp-content/uploads/2020/10/project-boards-illustration-board-and-team-700x391.png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6937D-F905-EF3B-776F-92512F11EDBA}"/>
              </a:ext>
            </a:extLst>
          </p:cNvPr>
          <p:cNvSpPr txBox="1"/>
          <p:nvPr/>
        </p:nvSpPr>
        <p:spPr>
          <a:xfrm>
            <a:off x="349250" y="4602926"/>
            <a:ext cx="45275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</a:rPr>
              <a:t>Source: </a:t>
            </a:r>
            <a:r>
              <a:rPr lang="en-US" sz="1200" b="0" i="0" u="none" strike="noStrike" dirty="0">
                <a:solidFill>
                  <a:srgbClr val="4F46E5"/>
                </a:solidFill>
                <a:effectLst/>
                <a:latin typeface="Lato" panose="020F0502020204030203" pitchFamily="34" charset="0"/>
              </a:rPr>
              <a:t>www.kanbanchi.com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03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801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Lato</vt:lpstr>
      <vt:lpstr>Office Theme</vt:lpstr>
      <vt:lpstr>Agile vs Waterfall SDLC</vt:lpstr>
      <vt:lpstr>Executive Briefing Overview</vt:lpstr>
      <vt:lpstr>Core Scrum-Agile Team Role</vt:lpstr>
      <vt:lpstr>Agile SDLC Sprint Lifecycle</vt:lpstr>
      <vt:lpstr>Development Paradigm Contrast</vt:lpstr>
      <vt:lpstr>Resolving Blockers: Waterfall vs Agile  </vt:lpstr>
      <vt:lpstr> Decision Factors for Leadership </vt:lpstr>
      <vt:lpstr> Methodology Comparative Matrix </vt:lpstr>
      <vt:lpstr>Questions &amp; Strategic Alignment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Fries, Derek</dc:creator>
  <cp:lastModifiedBy>Fries, Derek</cp:lastModifiedBy>
  <cp:revision>6</cp:revision>
  <dcterms:created xsi:type="dcterms:W3CDTF">2026-08-15T08:36:05Z</dcterms:created>
  <dcterms:modified xsi:type="dcterms:W3CDTF">2026-08-15T09:36:30Z</dcterms:modified>
</cp:coreProperties>
</file>